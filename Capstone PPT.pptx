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76A4"/>
    <a:srgbClr val="7BD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8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1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5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1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0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2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4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8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7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733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64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2961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66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71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6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BB409-756A-42D2-8C73-CEC279BB4BD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12300F-8483-4015-8F12-B9C9A3D6F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6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Stethoscope with solid fill">
            <a:extLst>
              <a:ext uri="{FF2B5EF4-FFF2-40B4-BE49-F238E27FC236}">
                <a16:creationId xmlns:a16="http://schemas.microsoft.com/office/drawing/2014/main" id="{323DB612-2507-F6BE-5683-16B61EBF3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10484" y="243738"/>
            <a:ext cx="4727436" cy="4727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4C0E04-7C6D-6A21-04DA-79BF2E9D4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673" y="-60960"/>
            <a:ext cx="4390650" cy="1920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4EE187-F8A0-F69E-9888-8C7A2798884A}"/>
              </a:ext>
            </a:extLst>
          </p:cNvPr>
          <p:cNvSpPr txBox="1"/>
          <p:nvPr/>
        </p:nvSpPr>
        <p:spPr>
          <a:xfrm>
            <a:off x="881428" y="1920910"/>
            <a:ext cx="10569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Project-</a:t>
            </a:r>
          </a:p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E-HEALTHCARE APPLICATION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BBF08-E84C-E876-0E20-0F9AE39A11AD}"/>
              </a:ext>
            </a:extLst>
          </p:cNvPr>
          <p:cNvSpPr txBox="1"/>
          <p:nvPr/>
        </p:nvSpPr>
        <p:spPr>
          <a:xfrm>
            <a:off x="3017957" y="3015322"/>
            <a:ext cx="61560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Sub- Capstone Project</a:t>
            </a:r>
          </a:p>
          <a:p>
            <a:pPr algn="ctr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Course- Diploma in Computer Engineering</a:t>
            </a:r>
          </a:p>
          <a:p>
            <a:pPr algn="ctr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Guided By- Shubhangi S. </a:t>
            </a:r>
            <a:r>
              <a:rPr lang="en-US" sz="2200" dirty="0" err="1">
                <a:latin typeface="Segoe UI" panose="020B0502040204020203" pitchFamily="34" charset="0"/>
                <a:cs typeface="Segoe UI" panose="020B0502040204020203" pitchFamily="34" charset="0"/>
              </a:rPr>
              <a:t>Shiwankar</a:t>
            </a: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Institute Name- Dy Patil Polytechnic Ambi, Pune</a:t>
            </a:r>
          </a:p>
          <a:p>
            <a:pPr algn="ctr"/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Academic Year- 2025-2026</a:t>
            </a:r>
          </a:p>
          <a:p>
            <a:pPr algn="ctr"/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I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Graphic 11" descr="Medicine with solid fill">
            <a:extLst>
              <a:ext uri="{FF2B5EF4-FFF2-40B4-BE49-F238E27FC236}">
                <a16:creationId xmlns:a16="http://schemas.microsoft.com/office/drawing/2014/main" id="{0B048945-784C-8A3A-4DA7-D2BD3BAD9C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3261" y="4587221"/>
            <a:ext cx="2270779" cy="2270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987949-B8C1-FECA-DD1F-A9985C4B3805}"/>
              </a:ext>
            </a:extLst>
          </p:cNvPr>
          <p:cNvSpPr txBox="1"/>
          <p:nvPr/>
        </p:nvSpPr>
        <p:spPr>
          <a:xfrm>
            <a:off x="9174040" y="5081954"/>
            <a:ext cx="28721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Group Members-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1.Pankaj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Shirsat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2.Sachin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Tidke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3.Vedant Waghmare 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4.Om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Waghmode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5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37B61-E296-00AB-64E0-3B8CE57E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F1DB7F-7C71-39DD-4D2B-5F1BFF2CAA8C}"/>
              </a:ext>
            </a:extLst>
          </p:cNvPr>
          <p:cNvSpPr txBox="1"/>
          <p:nvPr/>
        </p:nvSpPr>
        <p:spPr>
          <a:xfrm>
            <a:off x="3877408" y="580292"/>
            <a:ext cx="422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Graphic 10" descr="Heart with pulse with solid fill">
            <a:extLst>
              <a:ext uri="{FF2B5EF4-FFF2-40B4-BE49-F238E27FC236}">
                <a16:creationId xmlns:a16="http://schemas.microsoft.com/office/drawing/2014/main" id="{9867C52D-2A71-8E9D-F07F-9111CAE32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2985" y="753411"/>
            <a:ext cx="5046030" cy="5046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9D7C6F-CE34-B37D-3189-27302BD1B2AF}"/>
              </a:ext>
            </a:extLst>
          </p:cNvPr>
          <p:cNvSpPr txBox="1"/>
          <p:nvPr/>
        </p:nvSpPr>
        <p:spPr>
          <a:xfrm>
            <a:off x="722805" y="1770595"/>
            <a:ext cx="73837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Healthcare Management System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Android-Based Smart Healthcare Application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Submitted By: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Vedant Waghmare &amp; Team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3rd Year – DY Patil College Polytechnic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C2C72-E1D6-6ABA-01CB-ADC9C4AB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7F1237-BF64-8E70-4D0A-BF77C84C29F2}"/>
              </a:ext>
            </a:extLst>
          </p:cNvPr>
          <p:cNvSpPr txBox="1"/>
          <p:nvPr/>
        </p:nvSpPr>
        <p:spPr>
          <a:xfrm>
            <a:off x="91988" y="69015"/>
            <a:ext cx="4603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1: INTRODUCTION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877D0-A92D-5B1A-EA71-8AD84879801E}"/>
              </a:ext>
            </a:extLst>
          </p:cNvPr>
          <p:cNvSpPr txBox="1"/>
          <p:nvPr/>
        </p:nvSpPr>
        <p:spPr>
          <a:xfrm>
            <a:off x="690715" y="1345433"/>
            <a:ext cx="440239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</a:t>
            </a:r>
            <a:r>
              <a:rPr lang="en-US" sz="2000" b="1" dirty="0"/>
              <a:t>What is the system?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is a mobile app for healthcare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Works on Android phones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Helps both patients and doctors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🔹 Why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Old system is manual (paper work)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People wait in long queues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Hard to manage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proper communication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B5BEE6-0D2C-EF20-EDE6-4EE6E4F274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94" y="1709037"/>
            <a:ext cx="3313471" cy="33134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69C82C0-E5EC-77F3-342E-D8DE7E55A6C7}"/>
              </a:ext>
            </a:extLst>
          </p:cNvPr>
          <p:cNvSpPr txBox="1"/>
          <p:nvPr/>
        </p:nvSpPr>
        <p:spPr>
          <a:xfrm>
            <a:off x="6420465" y="1345433"/>
            <a:ext cx="61009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🔹 What your app does: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Book appointments online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Store patient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Order medicines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Book lab tests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🔹 Role-based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Patient → uses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Doctor → manages patients </a:t>
            </a:r>
          </a:p>
        </p:txBody>
      </p:sp>
    </p:spTree>
    <p:extLst>
      <p:ext uri="{BB962C8B-B14F-4D97-AF65-F5344CB8AC3E}">
        <p14:creationId xmlns:p14="http://schemas.microsoft.com/office/powerpoint/2010/main" val="2314290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1F18A-3190-3398-8D4C-A5B670D5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BC4B45-BA79-1038-6B3F-098EC1686B64}"/>
              </a:ext>
            </a:extLst>
          </p:cNvPr>
          <p:cNvSpPr txBox="1"/>
          <p:nvPr/>
        </p:nvSpPr>
        <p:spPr>
          <a:xfrm>
            <a:off x="0" y="118176"/>
            <a:ext cx="5109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2: LITERATURE SURVEY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146" name="Picture 2" descr="Problem Solution icon concept in blue color icon">
            <a:extLst>
              <a:ext uri="{FF2B5EF4-FFF2-40B4-BE49-F238E27FC236}">
                <a16:creationId xmlns:a16="http://schemas.microsoft.com/office/drawing/2014/main" id="{ED1AADAC-B285-EE3C-A96B-3843EE838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367" y="1465403"/>
            <a:ext cx="3677265" cy="367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9EA893-9589-D22A-2DD9-B4F74B90C403}"/>
              </a:ext>
            </a:extLst>
          </p:cNvPr>
          <p:cNvSpPr txBox="1"/>
          <p:nvPr/>
        </p:nvSpPr>
        <p:spPr>
          <a:xfrm>
            <a:off x="840658" y="1465403"/>
            <a:ext cx="88834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</a:t>
            </a:r>
            <a:r>
              <a:rPr lang="en-US" sz="2000" b="1" dirty="0"/>
              <a:t>What they 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Doctor consultation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Medicine delivery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Lab tests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🔹 Problems in them: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Not all features in one app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Need internet always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Complex 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security issues </a:t>
            </a:r>
          </a:p>
          <a:p>
            <a:pPr>
              <a:buNone/>
            </a:pP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26721-775E-96D1-3270-CD52DBE9CEE1}"/>
              </a:ext>
            </a:extLst>
          </p:cNvPr>
          <p:cNvSpPr txBox="1"/>
          <p:nvPr/>
        </p:nvSpPr>
        <p:spPr>
          <a:xfrm>
            <a:off x="6086168" y="1465403"/>
            <a:ext cx="61058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🔹 </a:t>
            </a:r>
            <a:r>
              <a:rPr lang="en-US" sz="2000" b="1" dirty="0"/>
              <a:t>Our improvement: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features in one app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Works partially offline (SQLite)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Simple UI</a:t>
            </a:r>
          </a:p>
        </p:txBody>
      </p:sp>
    </p:spTree>
    <p:extLst>
      <p:ext uri="{BB962C8B-B14F-4D97-AF65-F5344CB8AC3E}">
        <p14:creationId xmlns:p14="http://schemas.microsoft.com/office/powerpoint/2010/main" val="25919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4759-F249-BEC2-1452-EE68ED5D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pp Development icon concept in blue color icon">
            <a:extLst>
              <a:ext uri="{FF2B5EF4-FFF2-40B4-BE49-F238E27FC236}">
                <a16:creationId xmlns:a16="http://schemas.microsoft.com/office/drawing/2014/main" id="{29138D8F-26F8-B6D7-1981-6BFF52FD4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358" y="1552267"/>
            <a:ext cx="3753465" cy="375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D9D8B-8CE4-1088-D060-599682228C86}"/>
              </a:ext>
            </a:extLst>
          </p:cNvPr>
          <p:cNvSpPr txBox="1"/>
          <p:nvPr/>
        </p:nvSpPr>
        <p:spPr>
          <a:xfrm>
            <a:off x="810513" y="975692"/>
            <a:ext cx="49105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Technologies:</a:t>
            </a:r>
          </a:p>
          <a:p>
            <a:r>
              <a:rPr lang="en-US" sz="2000" b="1" dirty="0"/>
              <a:t>Android Studio</a:t>
            </a:r>
            <a:r>
              <a:rPr lang="en-US" sz="2000" dirty="0"/>
              <a:t> → for development </a:t>
            </a:r>
          </a:p>
          <a:p>
            <a:r>
              <a:rPr lang="en-US" sz="2000" b="1" dirty="0"/>
              <a:t>Java</a:t>
            </a:r>
            <a:r>
              <a:rPr lang="en-US" sz="2000" dirty="0"/>
              <a:t> → for logic </a:t>
            </a:r>
          </a:p>
          <a:p>
            <a:r>
              <a:rPr lang="en-US" sz="2000" b="1" dirty="0"/>
              <a:t>XML</a:t>
            </a:r>
            <a:r>
              <a:rPr lang="en-US" sz="2000" dirty="0"/>
              <a:t> → for design </a:t>
            </a:r>
          </a:p>
          <a:p>
            <a:r>
              <a:rPr lang="en-US" sz="2000" b="1" dirty="0"/>
              <a:t>SQLite</a:t>
            </a:r>
            <a:r>
              <a:rPr lang="en-US" sz="2000" dirty="0"/>
              <a:t> → for database </a:t>
            </a:r>
          </a:p>
          <a:p>
            <a:endParaRPr lang="en-US" sz="2000" b="1" dirty="0"/>
          </a:p>
          <a:p>
            <a:r>
              <a:rPr lang="en-US" sz="2000" b="1" dirty="0"/>
              <a:t>🔹 Algorithms (how system works):</a:t>
            </a:r>
          </a:p>
          <a:p>
            <a:r>
              <a:rPr lang="en-US" sz="2000" dirty="0"/>
              <a:t>Example:</a:t>
            </a:r>
          </a:p>
          <a:p>
            <a:r>
              <a:rPr lang="en-US" sz="2000" dirty="0"/>
              <a:t>User enters data → system checks → saves in database </a:t>
            </a:r>
          </a:p>
          <a:p>
            <a:endParaRPr lang="en-US" sz="2000" dirty="0"/>
          </a:p>
          <a:p>
            <a:r>
              <a:rPr lang="en-US" sz="2000" b="1" dirty="0"/>
              <a:t>🔹 System Requirements:</a:t>
            </a:r>
          </a:p>
          <a:p>
            <a:r>
              <a:rPr lang="en-US" sz="2000" dirty="0"/>
              <a:t>Android phone </a:t>
            </a:r>
          </a:p>
          <a:p>
            <a:r>
              <a:rPr lang="en-US" sz="2000" dirty="0"/>
              <a:t>Minimum RAM, storage </a:t>
            </a:r>
          </a:p>
          <a:p>
            <a:r>
              <a:rPr lang="en-US" sz="2000" dirty="0"/>
              <a:t>Works offline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79BC5-B4C0-BDC1-9C03-9176D1B10187}"/>
              </a:ext>
            </a:extLst>
          </p:cNvPr>
          <p:cNvSpPr txBox="1"/>
          <p:nvPr/>
        </p:nvSpPr>
        <p:spPr>
          <a:xfrm>
            <a:off x="-1143471" y="58141"/>
            <a:ext cx="708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3: SCOPE OF PROJECT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C78C2-F3C8-5269-B23C-FB59F6D913E2}"/>
              </a:ext>
            </a:extLst>
          </p:cNvPr>
          <p:cNvSpPr txBox="1"/>
          <p:nvPr/>
        </p:nvSpPr>
        <p:spPr>
          <a:xfrm>
            <a:off x="6193136" y="975692"/>
            <a:ext cx="67876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🔹</a:t>
            </a:r>
            <a:r>
              <a:rPr lang="en-US" sz="2000" b="1" dirty="0"/>
              <a:t>Functional Requirements:</a:t>
            </a:r>
          </a:p>
          <a:p>
            <a:r>
              <a:rPr lang="en-US" sz="2000" dirty="0"/>
              <a:t>Login/Register </a:t>
            </a:r>
          </a:p>
          <a:p>
            <a:r>
              <a:rPr lang="en-US" sz="2000" dirty="0"/>
              <a:t>Doctor search </a:t>
            </a:r>
          </a:p>
          <a:p>
            <a:r>
              <a:rPr lang="en-US" sz="2000" dirty="0"/>
              <a:t>Appointment booking </a:t>
            </a:r>
          </a:p>
          <a:p>
            <a:r>
              <a:rPr lang="en-US" sz="2000" dirty="0"/>
              <a:t>Lab test booking </a:t>
            </a:r>
          </a:p>
          <a:p>
            <a:r>
              <a:rPr lang="en-US" sz="2000" dirty="0"/>
              <a:t>Medicine order </a:t>
            </a:r>
          </a:p>
          <a:p>
            <a:endParaRPr lang="en-US" sz="2000" b="1" dirty="0"/>
          </a:p>
          <a:p>
            <a:r>
              <a:rPr lang="en-US" sz="2000" b="1" dirty="0"/>
              <a:t>🔹 Non-Functional:</a:t>
            </a:r>
          </a:p>
          <a:p>
            <a:r>
              <a:rPr lang="en-US" sz="2000" dirty="0"/>
              <a:t>Fast performance </a:t>
            </a:r>
          </a:p>
          <a:p>
            <a:r>
              <a:rPr lang="en-US" sz="2000" dirty="0"/>
              <a:t>Secure data </a:t>
            </a:r>
          </a:p>
          <a:p>
            <a:r>
              <a:rPr lang="en-US" sz="2000" dirty="0"/>
              <a:t>Easy UI </a:t>
            </a:r>
          </a:p>
        </p:txBody>
      </p:sp>
    </p:spTree>
    <p:extLst>
      <p:ext uri="{BB962C8B-B14F-4D97-AF65-F5344CB8AC3E}">
        <p14:creationId xmlns:p14="http://schemas.microsoft.com/office/powerpoint/2010/main" val="95904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A838-3D29-E059-2656-386BE5B82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AE531-6EB5-FDB2-759D-4A37BA6D9AC0}"/>
              </a:ext>
            </a:extLst>
          </p:cNvPr>
          <p:cNvSpPr txBox="1"/>
          <p:nvPr/>
        </p:nvSpPr>
        <p:spPr>
          <a:xfrm>
            <a:off x="-1271530" y="0"/>
            <a:ext cx="708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4: METHODOLOGY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User Login Vector Icon">
            <a:extLst>
              <a:ext uri="{FF2B5EF4-FFF2-40B4-BE49-F238E27FC236}">
                <a16:creationId xmlns:a16="http://schemas.microsoft.com/office/drawing/2014/main" id="{1615B8F5-2991-5A51-12C1-E4C24B316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015" y="1567016"/>
            <a:ext cx="3723968" cy="372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814513-EBCF-3A90-C8F1-8C178E641953}"/>
              </a:ext>
            </a:extLst>
          </p:cNvPr>
          <p:cNvSpPr txBox="1"/>
          <p:nvPr/>
        </p:nvSpPr>
        <p:spPr>
          <a:xfrm>
            <a:off x="234568" y="660397"/>
            <a:ext cx="9542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Waterfall Model is a software development process where work is done step by step in a fixed order.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247D3-78F3-DB63-D4DF-DB21FBBE48E8}"/>
              </a:ext>
            </a:extLst>
          </p:cNvPr>
          <p:cNvSpPr txBox="1"/>
          <p:nvPr/>
        </p:nvSpPr>
        <p:spPr>
          <a:xfrm>
            <a:off x="748602" y="1597665"/>
            <a:ext cx="674244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</a:t>
            </a:r>
            <a:r>
              <a:rPr lang="en-US" sz="2000" b="1" dirty="0"/>
              <a:t>Steps:</a:t>
            </a:r>
          </a:p>
          <a:p>
            <a:pPr>
              <a:buNone/>
            </a:pPr>
            <a:r>
              <a:rPr lang="en-US" sz="2000" b="1" dirty="0"/>
              <a:t>1. Requirement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Understand user needs </a:t>
            </a:r>
          </a:p>
          <a:p>
            <a:pPr>
              <a:buNone/>
            </a:pPr>
            <a:r>
              <a:rPr lang="en-US" sz="2000" b="1" dirty="0"/>
              <a:t>2.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Plan UI and database </a:t>
            </a:r>
          </a:p>
          <a:p>
            <a:pPr>
              <a:buNone/>
            </a:pPr>
            <a:r>
              <a:rPr lang="en-US" sz="2000" b="1" dirty="0"/>
              <a:t>3.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Write code (Java + XML) </a:t>
            </a:r>
          </a:p>
          <a:p>
            <a:pPr>
              <a:buNone/>
            </a:pPr>
            <a:r>
              <a:rPr lang="en-US" sz="2000" b="1" dirty="0"/>
              <a:t>4.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errors and fix </a:t>
            </a:r>
          </a:p>
          <a:p>
            <a:pPr>
              <a:buNone/>
            </a:pPr>
            <a:r>
              <a:rPr lang="en-US" sz="2000" b="1" dirty="0"/>
              <a:t>5.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app on mobile </a:t>
            </a:r>
          </a:p>
          <a:p>
            <a:pPr>
              <a:buNone/>
            </a:pPr>
            <a:r>
              <a:rPr lang="en-US" sz="2000" b="1" dirty="0"/>
              <a:t>6.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Improve app later</a:t>
            </a:r>
          </a:p>
        </p:txBody>
      </p:sp>
    </p:spTree>
    <p:extLst>
      <p:ext uri="{BB962C8B-B14F-4D97-AF65-F5344CB8AC3E}">
        <p14:creationId xmlns:p14="http://schemas.microsoft.com/office/powerpoint/2010/main" val="141087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DAB9E-E5E3-32AE-1073-5B678339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ctor Vector Icon">
            <a:extLst>
              <a:ext uri="{FF2B5EF4-FFF2-40B4-BE49-F238E27FC236}">
                <a16:creationId xmlns:a16="http://schemas.microsoft.com/office/drawing/2014/main" id="{1E666A87-23CD-0F71-E464-20D80C4EA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167" y="1725485"/>
            <a:ext cx="3547663" cy="354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89772D-360F-D898-E01A-03D84431CBA9}"/>
              </a:ext>
            </a:extLst>
          </p:cNvPr>
          <p:cNvSpPr txBox="1"/>
          <p:nvPr/>
        </p:nvSpPr>
        <p:spPr>
          <a:xfrm>
            <a:off x="-989563" y="98510"/>
            <a:ext cx="708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5: DESIGN &amp; WORKING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C8C27-BBB4-0EA2-099A-4DC1BF76A7B3}"/>
              </a:ext>
            </a:extLst>
          </p:cNvPr>
          <p:cNvSpPr txBox="1"/>
          <p:nvPr/>
        </p:nvSpPr>
        <p:spPr>
          <a:xfrm>
            <a:off x="329824" y="729120"/>
            <a:ext cx="60944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Architecture (3 parts):</a:t>
            </a:r>
          </a:p>
          <a:p>
            <a:r>
              <a:rPr lang="en-US" sz="2000" b="1" dirty="0"/>
              <a:t>1. Frontend</a:t>
            </a:r>
          </a:p>
          <a:p>
            <a:r>
              <a:rPr lang="en-US" sz="2000" dirty="0"/>
              <a:t>What user sees </a:t>
            </a:r>
          </a:p>
          <a:p>
            <a:r>
              <a:rPr lang="en-US" sz="2000" dirty="0"/>
              <a:t>XML + Java </a:t>
            </a:r>
          </a:p>
          <a:p>
            <a:r>
              <a:rPr lang="en-US" sz="2000" b="1" dirty="0"/>
              <a:t>2. Backend</a:t>
            </a:r>
          </a:p>
          <a:p>
            <a:r>
              <a:rPr lang="en-US" sz="2000" dirty="0"/>
              <a:t>SQLite database </a:t>
            </a:r>
          </a:p>
          <a:p>
            <a:r>
              <a:rPr lang="en-US" sz="2000" dirty="0"/>
              <a:t>Stores all data </a:t>
            </a:r>
          </a:p>
          <a:p>
            <a:r>
              <a:rPr lang="en-US" sz="2000" b="1" dirty="0"/>
              <a:t>3. Logic</a:t>
            </a:r>
          </a:p>
          <a:p>
            <a:r>
              <a:rPr lang="en-US" sz="2000" dirty="0"/>
              <a:t>Java code connects UI and database 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🔹 Data Flow:</a:t>
            </a:r>
          </a:p>
          <a:p>
            <a:r>
              <a:rPr lang="en-US" sz="2000" dirty="0"/>
              <a:t>👉 Example:</a:t>
            </a:r>
          </a:p>
          <a:p>
            <a:r>
              <a:rPr lang="en-US" sz="2000" dirty="0"/>
              <a:t>User login → data goes to database → verify → show result </a:t>
            </a:r>
          </a:p>
          <a:p>
            <a:br>
              <a:rPr lang="en-US" sz="2000" dirty="0"/>
            </a:br>
            <a:endParaRPr lang="en-US" sz="2000" dirty="0"/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03361-89D8-CE0D-2C8F-F1F592505DBA}"/>
              </a:ext>
            </a:extLst>
          </p:cNvPr>
          <p:cNvSpPr txBox="1"/>
          <p:nvPr/>
        </p:nvSpPr>
        <p:spPr>
          <a:xfrm>
            <a:off x="6704762" y="610136"/>
            <a:ext cx="659674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🔹 Use Case:</a:t>
            </a:r>
          </a:p>
          <a:p>
            <a:r>
              <a:rPr lang="en-US" sz="2000" b="1" dirty="0"/>
              <a:t>Patient:</a:t>
            </a:r>
          </a:p>
          <a:p>
            <a:r>
              <a:rPr lang="en-US" sz="2000" dirty="0"/>
              <a:t>Login </a:t>
            </a:r>
          </a:p>
          <a:p>
            <a:r>
              <a:rPr lang="en-US" sz="2000" dirty="0"/>
              <a:t>Search doctor </a:t>
            </a:r>
          </a:p>
          <a:p>
            <a:r>
              <a:rPr lang="en-US" sz="2000" dirty="0"/>
              <a:t>Book appointment </a:t>
            </a:r>
          </a:p>
          <a:p>
            <a:r>
              <a:rPr lang="en-US" sz="2000" dirty="0"/>
              <a:t>Order medicine </a:t>
            </a:r>
          </a:p>
          <a:p>
            <a:endParaRPr lang="en-US" sz="2000" b="1" dirty="0"/>
          </a:p>
          <a:p>
            <a:r>
              <a:rPr lang="en-US" sz="2000" b="1" dirty="0"/>
              <a:t>Doctor:</a:t>
            </a:r>
          </a:p>
          <a:p>
            <a:r>
              <a:rPr lang="en-US" sz="2000" dirty="0"/>
              <a:t>View appointments </a:t>
            </a:r>
          </a:p>
          <a:p>
            <a:r>
              <a:rPr lang="en-US" sz="2000" dirty="0"/>
              <a:t>Update reports </a:t>
            </a:r>
          </a:p>
          <a:p>
            <a:r>
              <a:rPr lang="en-US" sz="2000" dirty="0"/>
              <a:t>Manage patients </a:t>
            </a:r>
          </a:p>
          <a:p>
            <a:endParaRPr lang="en-US" sz="2000" b="1" dirty="0"/>
          </a:p>
          <a:p>
            <a:r>
              <a:rPr lang="en-US" sz="2000" b="1" dirty="0"/>
              <a:t>🔹 Working Process (Step-by-step):</a:t>
            </a:r>
          </a:p>
          <a:p>
            <a:r>
              <a:rPr lang="en-US" sz="2000" dirty="0"/>
              <a:t>User registers </a:t>
            </a:r>
          </a:p>
          <a:p>
            <a:r>
              <a:rPr lang="en-US" sz="2000" dirty="0"/>
              <a:t>Login </a:t>
            </a:r>
          </a:p>
          <a:p>
            <a:r>
              <a:rPr lang="en-US" sz="2000" dirty="0"/>
              <a:t>Goes to dashboard </a:t>
            </a:r>
          </a:p>
          <a:p>
            <a:r>
              <a:rPr lang="en-US" sz="2000" dirty="0"/>
              <a:t>Books appointment </a:t>
            </a:r>
          </a:p>
          <a:p>
            <a:r>
              <a:rPr lang="en-US" sz="2000" dirty="0"/>
              <a:t>Doctor sees request </a:t>
            </a:r>
          </a:p>
          <a:p>
            <a:r>
              <a:rPr lang="en-US" sz="2000" dirty="0"/>
              <a:t>Accept/reject </a:t>
            </a:r>
          </a:p>
          <a:p>
            <a:r>
              <a:rPr lang="en-US" sz="2000" dirty="0"/>
              <a:t>Data stored in database</a:t>
            </a:r>
          </a:p>
        </p:txBody>
      </p:sp>
    </p:spTree>
    <p:extLst>
      <p:ext uri="{BB962C8B-B14F-4D97-AF65-F5344CB8AC3E}">
        <p14:creationId xmlns:p14="http://schemas.microsoft.com/office/powerpoint/2010/main" val="390201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EB18F-D89E-780E-B032-85197740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ABF529-AAFB-2EA8-F0D6-6B903DF1262D}"/>
              </a:ext>
            </a:extLst>
          </p:cNvPr>
          <p:cNvSpPr txBox="1"/>
          <p:nvPr/>
        </p:nvSpPr>
        <p:spPr>
          <a:xfrm>
            <a:off x="-681594" y="103749"/>
            <a:ext cx="708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CHAPTER 6: RESULTS &amp; APPLICATION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098" name="Picture 2" descr="Download Server and icon concept">
            <a:extLst>
              <a:ext uri="{FF2B5EF4-FFF2-40B4-BE49-F238E27FC236}">
                <a16:creationId xmlns:a16="http://schemas.microsoft.com/office/drawing/2014/main" id="{FC4686E9-8ABD-6FBF-5D3A-B62CA611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370" y="1893591"/>
            <a:ext cx="4117258" cy="411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D4BB1-18C5-E823-92CD-5E9D63A276A7}"/>
              </a:ext>
            </a:extLst>
          </p:cNvPr>
          <p:cNvSpPr txBox="1"/>
          <p:nvPr/>
        </p:nvSpPr>
        <p:spPr>
          <a:xfrm>
            <a:off x="618244" y="1084341"/>
            <a:ext cx="839674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 works successfully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 features implemented </a:t>
            </a:r>
          </a:p>
          <a:p>
            <a:endParaRPr lang="en-US" sz="2000" b="1" dirty="0"/>
          </a:p>
          <a:p>
            <a:r>
              <a:rPr lang="en-US" sz="2000" b="1" dirty="0"/>
              <a:t>🔹 Patient output: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 book, order, view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🔹 Doctor output: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 manage patients </a:t>
            </a:r>
          </a:p>
          <a:p>
            <a:endParaRPr lang="en-US" sz="2000" b="1" dirty="0"/>
          </a:p>
          <a:p>
            <a:r>
              <a:rPr lang="en-US" sz="2000" b="1" dirty="0"/>
              <a:t>🔹 Real-world 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Hospitals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Clinics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Online consultation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8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508E-2D43-DD42-8996-1097BFB0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Vector Design Java Icon Style">
            <a:extLst>
              <a:ext uri="{FF2B5EF4-FFF2-40B4-BE49-F238E27FC236}">
                <a16:creationId xmlns:a16="http://schemas.microsoft.com/office/drawing/2014/main" id="{E00452A2-32DD-D8EF-78AA-83B0AD194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73" y="3750818"/>
            <a:ext cx="2654710" cy="265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E2E9FA-1243-10CF-EDE7-8C20644620B5}"/>
              </a:ext>
            </a:extLst>
          </p:cNvPr>
          <p:cNvSpPr txBox="1"/>
          <p:nvPr/>
        </p:nvSpPr>
        <p:spPr>
          <a:xfrm>
            <a:off x="2553219" y="452472"/>
            <a:ext cx="708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Technology Stack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62CED-91C8-6415-9469-156D75B84DC3}"/>
              </a:ext>
            </a:extLst>
          </p:cNvPr>
          <p:cNvSpPr txBox="1"/>
          <p:nvPr/>
        </p:nvSpPr>
        <p:spPr>
          <a:xfrm>
            <a:off x="914400" y="1280846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Development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Android Studio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Java 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XML for UI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SQLite Database</a:t>
            </a: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System Architecture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Frontend → Android UI (XML + Java)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Backend → SQLite Database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Logic → Java Activities 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126" name="Picture 6" descr="XML file format symbol - Free interface icons">
            <a:extLst>
              <a:ext uri="{FF2B5EF4-FFF2-40B4-BE49-F238E27FC236}">
                <a16:creationId xmlns:a16="http://schemas.microsoft.com/office/drawing/2014/main" id="{1DC2EF80-3072-CA11-07AE-250DA7E24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739364"/>
            <a:ext cx="2084439" cy="2084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35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3353-F1C2-F4D9-DD0F-2AC64CB0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I in healthcare icon, medical technology and innovation">
            <a:extLst>
              <a:ext uri="{FF2B5EF4-FFF2-40B4-BE49-F238E27FC236}">
                <a16:creationId xmlns:a16="http://schemas.microsoft.com/office/drawing/2014/main" id="{3BDD364F-F33C-A253-1222-6374D1526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035" y="1640758"/>
            <a:ext cx="3576484" cy="357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3B5890-F660-837B-7174-97E4B513A049}"/>
              </a:ext>
            </a:extLst>
          </p:cNvPr>
          <p:cNvSpPr txBox="1"/>
          <p:nvPr/>
        </p:nvSpPr>
        <p:spPr>
          <a:xfrm>
            <a:off x="2553219" y="452472"/>
            <a:ext cx="708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Advantages &amp; Future Enhancement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6A77E-D015-A708-3F92-608E33C42DF1}"/>
              </a:ext>
            </a:extLst>
          </p:cNvPr>
          <p:cNvSpPr txBox="1"/>
          <p:nvPr/>
        </p:nvSpPr>
        <p:spPr>
          <a:xfrm>
            <a:off x="904568" y="1408666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Advantages</a:t>
            </a:r>
          </a:p>
          <a:p>
            <a:pPr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✔ User-friendly interface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✔ Time-saving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✔ Centralized healthcare platform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✔ Digital record maintenance</a:t>
            </a:r>
            <a:b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✔ Efficient appointment management</a:t>
            </a:r>
          </a:p>
          <a:p>
            <a:pPr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Online Payment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Video Consultation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Cloud Database (Firebase)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Push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AI-based Health Suggestions</a:t>
            </a:r>
          </a:p>
        </p:txBody>
      </p:sp>
    </p:spTree>
    <p:extLst>
      <p:ext uri="{BB962C8B-B14F-4D97-AF65-F5344CB8AC3E}">
        <p14:creationId xmlns:p14="http://schemas.microsoft.com/office/powerpoint/2010/main" val="219919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39EB-2689-80F5-A644-1C7907B5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pp Development icon concept in blue color icon">
            <a:extLst>
              <a:ext uri="{FF2B5EF4-FFF2-40B4-BE49-F238E27FC236}">
                <a16:creationId xmlns:a16="http://schemas.microsoft.com/office/drawing/2014/main" id="{AE01199F-9C6D-27AD-5215-DAA5A1A84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266" y="1552267"/>
            <a:ext cx="3753465" cy="375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50A428-AE80-6262-E53F-2CB1180AAB57}"/>
              </a:ext>
            </a:extLst>
          </p:cNvPr>
          <p:cNvSpPr txBox="1"/>
          <p:nvPr/>
        </p:nvSpPr>
        <p:spPr>
          <a:xfrm>
            <a:off x="2553219" y="452472"/>
            <a:ext cx="708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KEY FEATURES 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D4AC0-309D-FB72-B69C-8C9AA6977A8A}"/>
              </a:ext>
            </a:extLst>
          </p:cNvPr>
          <p:cNvSpPr txBox="1"/>
          <p:nvPr/>
        </p:nvSpPr>
        <p:spPr>
          <a:xfrm>
            <a:off x="904568" y="1408666"/>
            <a:ext cx="6096000" cy="369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Secure Login System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Role-based access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Appointment Management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Lab Test Booking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Medicine Purchase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Doctor Dashboard </a:t>
            </a:r>
          </a:p>
        </p:txBody>
      </p:sp>
    </p:spTree>
    <p:extLst>
      <p:ext uri="{BB962C8B-B14F-4D97-AF65-F5344CB8AC3E}">
        <p14:creationId xmlns:p14="http://schemas.microsoft.com/office/powerpoint/2010/main" val="28589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54E77-5837-A1D8-8B13-B26728B6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E05E6-6F3E-C64A-493A-3DCCFCB7497B}"/>
              </a:ext>
            </a:extLst>
          </p:cNvPr>
          <p:cNvSpPr txBox="1"/>
          <p:nvPr/>
        </p:nvSpPr>
        <p:spPr>
          <a:xfrm>
            <a:off x="776748" y="1720840"/>
            <a:ext cx="102648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system successfully provides a digital healthcare solution. It reduces manual work and improves accessibility for both patients and doctors.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Doctor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Appointment Booking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Lab Test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Medicine Ordering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Patient Record Maintenance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project demonstrates practical knowledge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Android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Database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UI/UX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Software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55608-EA51-23F8-9191-580FBCA566A5}"/>
              </a:ext>
            </a:extLst>
          </p:cNvPr>
          <p:cNvSpPr txBox="1"/>
          <p:nvPr/>
        </p:nvSpPr>
        <p:spPr>
          <a:xfrm>
            <a:off x="2553219" y="452472"/>
            <a:ext cx="7085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251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198</TotalTime>
  <Words>645</Words>
  <Application>Microsoft Office PowerPoint</Application>
  <PresentationFormat>Widescreen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Segoe UI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Vedant Waghmare</dc:creator>
  <cp:lastModifiedBy>Sachin Tidke</cp:lastModifiedBy>
  <cp:revision>8</cp:revision>
  <dcterms:created xsi:type="dcterms:W3CDTF">2026-02-28T16:12:23Z</dcterms:created>
  <dcterms:modified xsi:type="dcterms:W3CDTF">2026-09-30T06:15:44Z</dcterms:modified>
</cp:coreProperties>
</file>